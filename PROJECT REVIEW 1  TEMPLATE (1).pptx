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8/25/2026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25-08-2026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25-08-2026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25-08-2026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25-08-2026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25-08-2026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25-08-2026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25-08-2026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25-08-2026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25-08-2026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25-08-2026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25-08-2026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25-08-2026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25-08-2026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25-08-2026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25-08-2026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25-08-2026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25-08-2026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25-08-2026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38200" y="3501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US" dirty="0"/>
              <a:t>DATE : 13-08-2026</a:t>
            </a: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154012644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Y. </a:t>
                      </a:r>
                      <a:r>
                        <a:rPr lang="en-US" dirty="0" err="1"/>
                        <a:t>Sathwika</a:t>
                      </a:r>
                      <a:endParaRPr lang="en-US" dirty="0"/>
                    </a:p>
                  </a:txBody>
                  <a:tcPr/>
                </a:tc>
                <a:tc>
                  <a:txBody>
                    <a:bodyPr/>
                    <a:lstStyle/>
                    <a:p>
                      <a:r>
                        <a:rPr lang="en-US" dirty="0"/>
                        <a:t>2520030007</a:t>
                      </a:r>
                    </a:p>
                  </a:txBody>
                  <a:tcPr/>
                </a:tc>
                <a:extLst>
                  <a:ext uri="{0D108BD9-81ED-4DB2-BD59-A6C34878D82A}">
                    <a16:rowId xmlns:a16="http://schemas.microsoft.com/office/drawing/2014/main" val="253518174"/>
                  </a:ext>
                </a:extLst>
              </a:tr>
              <a:tr h="370840">
                <a:tc>
                  <a:txBody>
                    <a:bodyPr/>
                    <a:lstStyle/>
                    <a:p>
                      <a:r>
                        <a:rPr lang="en-US" dirty="0"/>
                        <a:t>M. </a:t>
                      </a:r>
                      <a:r>
                        <a:rPr lang="en-US"/>
                        <a:t>Akhila</a:t>
                      </a:r>
                      <a:endParaRPr lang="en-US" dirty="0"/>
                    </a:p>
                  </a:txBody>
                  <a:tcPr/>
                </a:tc>
                <a:tc>
                  <a:txBody>
                    <a:bodyPr/>
                    <a:lstStyle/>
                    <a:p>
                      <a:r>
                        <a:rPr lang="en-US" dirty="0"/>
                        <a:t>2520030511</a:t>
                      </a:r>
                    </a:p>
                  </a:txBody>
                  <a:tcPr/>
                </a:tc>
                <a:extLst>
                  <a:ext uri="{0D108BD9-81ED-4DB2-BD59-A6C34878D82A}">
                    <a16:rowId xmlns:a16="http://schemas.microsoft.com/office/drawing/2014/main" val="2413438055"/>
                  </a:ext>
                </a:extLst>
              </a:tr>
              <a:tr h="370840">
                <a:tc>
                  <a:txBody>
                    <a:bodyPr/>
                    <a:lstStyle/>
                    <a:p>
                      <a:r>
                        <a:rPr lang="en-US" dirty="0"/>
                        <a:t>Charan Sai</a:t>
                      </a:r>
                    </a:p>
                  </a:txBody>
                  <a:tcPr/>
                </a:tc>
                <a:tc>
                  <a:txBody>
                    <a:bodyPr/>
                    <a:lstStyle/>
                    <a:p>
                      <a:r>
                        <a:rPr lang="en-US" dirty="0"/>
                        <a:t>2520030321</a:t>
                      </a:r>
                    </a:p>
                  </a:txBody>
                  <a:tcPr/>
                </a:tc>
                <a:extLst>
                  <a:ext uri="{0D108BD9-81ED-4DB2-BD59-A6C34878D82A}">
                    <a16:rowId xmlns:a16="http://schemas.microsoft.com/office/drawing/2014/main" val="2584183484"/>
                  </a:ext>
                </a:extLst>
              </a:tr>
            </a:tbl>
          </a:graphicData>
        </a:graphic>
      </p:graphicFrame>
      <p:graphicFrame>
        <p:nvGraphicFramePr>
          <p:cNvPr id="14" name="Table 13">
            <a:extLst>
              <a:ext uri="{FF2B5EF4-FFF2-40B4-BE49-F238E27FC236}">
                <a16:creationId xmlns:a16="http://schemas.microsoft.com/office/drawing/2014/main" id="{30D2D96B-38B6-862D-13E5-83F1B78C3BC7}"/>
              </a:ext>
            </a:extLst>
          </p:cNvPr>
          <p:cNvGraphicFramePr>
            <a:graphicFrameLocks noGrp="1"/>
          </p:cNvGraphicFramePr>
          <p:nvPr>
            <p:extLst>
              <p:ext uri="{D42A27DB-BD31-4B8C-83A1-F6EECF244321}">
                <p14:modId xmlns:p14="http://schemas.microsoft.com/office/powerpoint/2010/main" val="1815148328"/>
              </p:ext>
            </p:extLst>
          </p:nvPr>
        </p:nvGraphicFramePr>
        <p:xfrm>
          <a:off x="2032000" y="979165"/>
          <a:ext cx="9321800" cy="351499"/>
        </p:xfrm>
        <a:graphic>
          <a:graphicData uri="http://schemas.openxmlformats.org/drawingml/2006/table">
            <a:tbl>
              <a:tblPr firstRow="1" firstCol="1" bandRow="1">
                <a:tableStyleId>{5C22544A-7EE6-4342-B048-85BDC9FD1C3A}</a:tableStyleId>
              </a:tblPr>
              <a:tblGrid>
                <a:gridCol w="9321800">
                  <a:extLst>
                    <a:ext uri="{9D8B030D-6E8A-4147-A177-3AD203B41FA5}">
                      <a16:colId xmlns:a16="http://schemas.microsoft.com/office/drawing/2014/main" val="1487323609"/>
                    </a:ext>
                  </a:extLst>
                </a:gridCol>
              </a:tblGrid>
              <a:tr h="351499">
                <a:tc>
                  <a:txBody>
                    <a:bodyPr/>
                    <a:lstStyle/>
                    <a:p>
                      <a:pPr marL="67310">
                        <a:lnSpc>
                          <a:spcPct val="88258"/>
                        </a:lnSpc>
                        <a:spcBef>
                          <a:spcPts val="5"/>
                        </a:spcBef>
                        <a:buNone/>
                      </a:pPr>
                      <a:r>
                        <a:rPr lang="en-US" sz="2400" spc="-10" dirty="0">
                          <a:solidFill>
                            <a:srgbClr val="011893"/>
                          </a:solidFill>
                          <a:effectLst/>
                        </a:rPr>
                        <a:t>Complaint management &amp; analytics portal for environmental services</a:t>
                      </a:r>
                      <a:endParaRPr lang="en-IN" sz="2400" dirty="0">
                        <a:solidFill>
                          <a:srgbClr val="011893"/>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bg1"/>
                    </a:solidFill>
                  </a:tcPr>
                </a:tc>
                <a:extLst>
                  <a:ext uri="{0D108BD9-81ED-4DB2-BD59-A6C34878D82A}">
                    <a16:rowId xmlns:a16="http://schemas.microsoft.com/office/drawing/2014/main" val="1683995335"/>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 16</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822698359"/>
              </p:ext>
            </p:extLst>
          </p:nvPr>
        </p:nvGraphicFramePr>
        <p:xfrm>
          <a:off x="838199" y="1416191"/>
          <a:ext cx="10515600" cy="3568762"/>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517295">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33543">
                <a:tc>
                  <a:txBody>
                    <a:bodyPr/>
                    <a:lstStyle/>
                    <a:p>
                      <a:r>
                        <a:rPr lang="en-US" dirty="0"/>
                        <a:t>Y. </a:t>
                      </a:r>
                      <a:r>
                        <a:rPr lang="en-US" dirty="0" err="1"/>
                        <a:t>Sathwika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Introduction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33543">
                <a:tc>
                  <a:txBody>
                    <a:bodyPr/>
                    <a:lstStyle/>
                    <a:p>
                      <a:r>
                        <a:rPr lang="en-US" dirty="0" err="1"/>
                        <a:t>M.Akhila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Main Idea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33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Charan Sai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Technical &amp; Ending</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3354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517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Autofit/>
          </a:bodyPr>
          <a:lstStyle/>
          <a:p>
            <a:pPr lvl="0">
              <a:lnSpc>
                <a:spcPct val="120000"/>
              </a:lnSpc>
            </a:pPr>
            <a:r>
              <a:rPr lang="en-IN" sz="2000" dirty="0"/>
              <a:t>A web-based platform designed to </a:t>
            </a:r>
            <a:r>
              <a:rPr lang="en-IN" sz="2000" b="1" dirty="0"/>
              <a:t>manage and monitor environmental complaints</a:t>
            </a:r>
            <a:r>
              <a:rPr lang="en-IN" sz="2000" dirty="0"/>
              <a:t> efficiently. </a:t>
            </a:r>
          </a:p>
          <a:p>
            <a:pPr lvl="0">
              <a:lnSpc>
                <a:spcPct val="120000"/>
              </a:lnSpc>
            </a:pPr>
            <a:r>
              <a:rPr lang="en-IN" sz="2000" dirty="0"/>
              <a:t>Enables citizens to </a:t>
            </a:r>
            <a:r>
              <a:rPr lang="en-IN" sz="2000" b="1" dirty="0"/>
              <a:t>report environmental issues</a:t>
            </a:r>
            <a:r>
              <a:rPr lang="en-IN" sz="2000" dirty="0"/>
              <a:t> such as waste accumulation, water pollution, air pollution, sewage overflow, and other local problems. </a:t>
            </a:r>
          </a:p>
          <a:p>
            <a:pPr lvl="0">
              <a:lnSpc>
                <a:spcPct val="120000"/>
              </a:lnSpc>
            </a:pPr>
            <a:r>
              <a:rPr lang="en-IN" sz="2000" dirty="0"/>
              <a:t>Provides a centralized system for citizens to </a:t>
            </a:r>
            <a:r>
              <a:rPr lang="en-IN" sz="2000" b="1" dirty="0"/>
              <a:t>submit complaints, upload relevant details, and track complaint status</a:t>
            </a:r>
            <a:r>
              <a:rPr lang="en-IN" sz="2000" dirty="0"/>
              <a:t>. </a:t>
            </a:r>
          </a:p>
          <a:p>
            <a:pPr lvl="0">
              <a:lnSpc>
                <a:spcPct val="120000"/>
              </a:lnSpc>
            </a:pPr>
            <a:r>
              <a:rPr lang="en-IN" sz="2000" dirty="0"/>
              <a:t>Authorities can </a:t>
            </a:r>
            <a:r>
              <a:rPr lang="en-IN" sz="2000" b="1" dirty="0"/>
              <a:t>view, assign, update, and resolve complaints</a:t>
            </a:r>
            <a:r>
              <a:rPr lang="en-IN" sz="2000" dirty="0"/>
              <a:t> through a systematic workflow. </a:t>
            </a:r>
          </a:p>
          <a:p>
            <a:pPr lvl="0">
              <a:lnSpc>
                <a:spcPct val="120000"/>
              </a:lnSpc>
            </a:pPr>
            <a:r>
              <a:rPr lang="en-IN" sz="2000" dirty="0"/>
              <a:t>An </a:t>
            </a:r>
            <a:r>
              <a:rPr lang="en-IN" sz="2000" b="1" dirty="0"/>
              <a:t>analytics dashboard</a:t>
            </a:r>
            <a:r>
              <a:rPr lang="en-IN" sz="2000" dirty="0"/>
              <a:t> helps authorities understand complaint patterns, frequently reported issues, and affected locations. </a:t>
            </a:r>
          </a:p>
          <a:p>
            <a:pPr lvl="0">
              <a:lnSpc>
                <a:spcPct val="120000"/>
              </a:lnSpc>
            </a:pPr>
            <a:r>
              <a:rPr lang="en-IN" sz="2000" dirty="0"/>
              <a:t>Provides useful insights through </a:t>
            </a:r>
            <a:r>
              <a:rPr lang="en-IN" sz="2000" b="1" dirty="0"/>
              <a:t>statistics, trends, and visual reports</a:t>
            </a:r>
            <a:r>
              <a:rPr lang="en-IN" sz="2000" dirty="0"/>
              <a:t> for better decision-making. </a:t>
            </a:r>
          </a:p>
          <a:p>
            <a:pPr lvl="0">
              <a:lnSpc>
                <a:spcPct val="120000"/>
              </a:lnSpc>
            </a:pPr>
            <a:r>
              <a:rPr lang="en-IN" sz="2000" dirty="0"/>
              <a:t>Reduces dependence on </a:t>
            </a:r>
            <a:r>
              <a:rPr lang="en-IN" sz="2000" b="1" dirty="0"/>
              <a:t>manual records, phone calls, and paper-based complaint systems</a:t>
            </a:r>
            <a:r>
              <a:rPr lang="en-IN" sz="2000" dirty="0"/>
              <a:t>. </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20000"/>
          </a:bodyPr>
          <a:lstStyle/>
          <a:p>
            <a:pPr algn="just">
              <a:lnSpc>
                <a:spcPct val="110000"/>
              </a:lnSpc>
            </a:pPr>
            <a:r>
              <a:rPr lang="en-IN" dirty="0"/>
              <a:t>Environmental problems can significantly affect public health and the quality of the surrounding environment. Citizens often face difficulties when reporting problems such as garbage accumulation, polluted water, sewage overflow, and air pollution. Traditional complaint systems may depend on phone calls, paper forms, or manual records, making complaints difficult to track and </a:t>
            </a:r>
            <a:r>
              <a:rPr lang="en-IN" dirty="0" err="1"/>
              <a:t>analyze</a:t>
            </a:r>
            <a:r>
              <a:rPr lang="en-IN" dirty="0"/>
              <a:t>.</a:t>
            </a:r>
          </a:p>
          <a:p>
            <a:pPr algn="just">
              <a:lnSpc>
                <a:spcPct val="110000"/>
              </a:lnSpc>
            </a:pPr>
            <a:r>
              <a:rPr lang="en-IN" dirty="0"/>
              <a:t>The proposed Complaint Management &amp; Analytics Portal provides a centralized digital platform where users can submit complaints and monitor their status. Authorities can manage complaints systematically and use analytics to identify frequently occurring environmental issues and locations requiring attention.</a:t>
            </a:r>
          </a:p>
          <a:p>
            <a:pPr marL="0" indent="0">
              <a:buNone/>
            </a:pP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lnSpcReduction="10000"/>
          </a:bodyPr>
          <a:lstStyle/>
          <a:p>
            <a:r>
              <a:rPr lang="en-IN" dirty="0"/>
              <a:t>In the existing system, environmental complaints are commonly handled through:</a:t>
            </a:r>
          </a:p>
          <a:p>
            <a:pPr lvl="0"/>
            <a:r>
              <a:rPr lang="en-IN" dirty="0"/>
              <a:t>Phone calls and helplines</a:t>
            </a:r>
          </a:p>
          <a:p>
            <a:pPr lvl="0"/>
            <a:r>
              <a:rPr lang="en-IN" dirty="0"/>
              <a:t>Paper-based complaint forms</a:t>
            </a:r>
          </a:p>
          <a:p>
            <a:pPr lvl="0"/>
            <a:r>
              <a:rPr lang="en-IN" dirty="0"/>
              <a:t>Emails or individual messages</a:t>
            </a:r>
          </a:p>
          <a:p>
            <a:pPr lvl="0"/>
            <a:r>
              <a:rPr lang="en-IN" dirty="0"/>
              <a:t>Manual record maintenance</a:t>
            </a:r>
          </a:p>
          <a:p>
            <a:pPr lvl="0"/>
            <a:r>
              <a:rPr lang="en-IN" dirty="0"/>
              <a:t>Separate systems for different departments</a:t>
            </a:r>
          </a:p>
          <a:p>
            <a:r>
              <a:rPr lang="en-IN" dirty="0"/>
              <a:t>These methods can make it difficult to track complaints, assign them to the appropriate department, monitor resolution time, and generate useful reports.</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r>
              <a:rPr lang="en-IN" dirty="0"/>
              <a:t>The major problem is the lack of a centralized and efficient system for managing environmental complaints. Manual complaint handling can lead to delayed responses, difficulty in tracking complaint status, duplicate records, and limited availability of analytical information.</a:t>
            </a:r>
          </a:p>
          <a:p>
            <a:pPr marL="0" indent="0">
              <a:buNone/>
            </a:pPr>
            <a:endParaRPr lang="en-IN" dirty="0"/>
          </a:p>
          <a:p>
            <a:r>
              <a:rPr lang="en-IN" dirty="0"/>
              <a:t>There is a need for a digital platform that can collect complaints in a structured manner, track their progress, and provide analytics to help authorities make better decisions.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a:bodyPr>
          <a:lstStyle/>
          <a:p>
            <a:pPr lvl="0"/>
            <a:r>
              <a:rPr lang="en-IN" dirty="0"/>
              <a:t>Develop a centralized digital portal for managing environmental complaints. </a:t>
            </a:r>
          </a:p>
          <a:p>
            <a:pPr lvl="0"/>
            <a:r>
              <a:rPr lang="en-IN" dirty="0"/>
              <a:t>Allow users to submit complaints online with details such as category, location, description, and images. </a:t>
            </a:r>
          </a:p>
          <a:p>
            <a:pPr lvl="0"/>
            <a:r>
              <a:rPr lang="en-IN" dirty="0"/>
              <a:t>Provide real-time complaint tracking from registration to resolution. </a:t>
            </a:r>
          </a:p>
          <a:p>
            <a:pPr lvl="0"/>
            <a:r>
              <a:rPr lang="en-IN" dirty="0"/>
              <a:t>Enable authorities to assign, update, and manage complaints efficiently. </a:t>
            </a:r>
          </a:p>
          <a:p>
            <a:pPr lvl="0"/>
            <a:r>
              <a:rPr lang="en-IN" dirty="0"/>
              <a:t>Use analytics and dashboards to identify complaint trends and recurring environmental issues. </a:t>
            </a:r>
          </a:p>
          <a:p>
            <a:pPr lvl="0"/>
            <a:r>
              <a:rPr lang="en-IN" dirty="0"/>
              <a:t>Generate reports and insights to support faster and better decision-making. </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lnSpcReduction="10000"/>
          </a:bodyPr>
          <a:lstStyle/>
          <a:p>
            <a:pPr marL="0" indent="0">
              <a:buNone/>
            </a:pPr>
            <a:r>
              <a:rPr lang="en-IN" dirty="0"/>
              <a:t>The main objectives of the project are:</a:t>
            </a:r>
          </a:p>
          <a:p>
            <a:pPr marL="0" indent="0">
              <a:buNone/>
            </a:pPr>
            <a:endParaRPr lang="en-IN" dirty="0"/>
          </a:p>
          <a:p>
            <a:pPr lvl="0"/>
            <a:r>
              <a:rPr lang="en-IN" dirty="0"/>
              <a:t>To provide an easy-to-use platform for submitting environmental complaints.</a:t>
            </a:r>
          </a:p>
          <a:p>
            <a:pPr lvl="0"/>
            <a:r>
              <a:rPr lang="en-IN" dirty="0"/>
              <a:t>To maintain complaints in a centralized database.</a:t>
            </a:r>
          </a:p>
          <a:p>
            <a:pPr lvl="0"/>
            <a:r>
              <a:rPr lang="en-IN" dirty="0"/>
              <a:t>To reduce manual work in complaint management.</a:t>
            </a:r>
          </a:p>
          <a:p>
            <a:pPr lvl="0"/>
            <a:r>
              <a:rPr lang="en-IN" dirty="0"/>
              <a:t>To allow users to track the status of their complaints.</a:t>
            </a:r>
          </a:p>
          <a:p>
            <a:pPr lvl="0"/>
            <a:r>
              <a:rPr lang="en-IN" dirty="0"/>
              <a:t>To help authorities assign and resolve complaints efficiently.</a:t>
            </a:r>
          </a:p>
          <a:p>
            <a:pPr lvl="0"/>
            <a:r>
              <a:rPr lang="en-IN" dirty="0"/>
              <a:t>To </a:t>
            </a:r>
            <a:r>
              <a:rPr lang="en-IN" dirty="0" err="1"/>
              <a:t>analyze</a:t>
            </a:r>
            <a:r>
              <a:rPr lang="en-IN" dirty="0"/>
              <a:t> complaint trends based on category, location, and status.</a:t>
            </a:r>
          </a:p>
          <a:p>
            <a:pPr marL="0" indent="0">
              <a:buNone/>
            </a:pP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lstStyle/>
          <a:p>
            <a:pPr lvl="0"/>
            <a:r>
              <a:rPr lang="en-IN" b="1" dirty="0"/>
              <a:t>User Management</a:t>
            </a:r>
            <a:r>
              <a:rPr lang="en-IN" dirty="0"/>
              <a:t> – Registration, login, and profile management. </a:t>
            </a:r>
          </a:p>
          <a:p>
            <a:pPr lvl="0"/>
            <a:r>
              <a:rPr lang="en-IN" b="1" dirty="0"/>
              <a:t>Complaint Registration</a:t>
            </a:r>
            <a:r>
              <a:rPr lang="en-IN" dirty="0"/>
              <a:t> – Submit environmental complaints with category, location, description, and images. </a:t>
            </a:r>
          </a:p>
          <a:p>
            <a:pPr lvl="0"/>
            <a:r>
              <a:rPr lang="en-IN" b="1" dirty="0"/>
              <a:t>Complaint Tracking</a:t>
            </a:r>
            <a:r>
              <a:rPr lang="en-IN" dirty="0"/>
              <a:t> – Track complaint status and resolution progress. </a:t>
            </a:r>
          </a:p>
          <a:p>
            <a:pPr lvl="0"/>
            <a:r>
              <a:rPr lang="en-IN" b="1" dirty="0"/>
              <a:t>Admin Management</a:t>
            </a:r>
            <a:r>
              <a:rPr lang="en-IN" dirty="0"/>
              <a:t> – Assign, update, and manage complaints. </a:t>
            </a:r>
          </a:p>
          <a:p>
            <a:pPr lvl="0"/>
            <a:r>
              <a:rPr lang="en-IN" b="1" dirty="0"/>
              <a:t>Analytics &amp; Dashboard</a:t>
            </a:r>
            <a:r>
              <a:rPr lang="en-IN" dirty="0"/>
              <a:t> – </a:t>
            </a:r>
            <a:r>
              <a:rPr lang="en-IN" dirty="0" err="1"/>
              <a:t>Analyze</a:t>
            </a:r>
            <a:r>
              <a:rPr lang="en-IN" dirty="0"/>
              <a:t> complaints using charts, trends, and statistics. </a:t>
            </a:r>
          </a:p>
          <a:p>
            <a:pPr lvl="0"/>
            <a:r>
              <a:rPr lang="en-IN" b="1" dirty="0"/>
              <a:t>Report Generation</a:t>
            </a:r>
            <a:r>
              <a:rPr lang="en-IN" dirty="0"/>
              <a:t> – Generate and export complaint reports. </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62500" lnSpcReduction="20000"/>
          </a:bodyPr>
          <a:lstStyle/>
          <a:p>
            <a:pPr marL="0" indent="0">
              <a:buNone/>
            </a:pPr>
            <a:r>
              <a:rPr lang="en-IN" b="1" dirty="0"/>
              <a:t>Frontend</a:t>
            </a:r>
          </a:p>
          <a:p>
            <a:pPr lvl="0"/>
            <a:r>
              <a:rPr lang="en-IN" dirty="0"/>
              <a:t>HTML5</a:t>
            </a:r>
          </a:p>
          <a:p>
            <a:pPr lvl="0"/>
            <a:r>
              <a:rPr lang="en-IN" dirty="0"/>
              <a:t>CSS3</a:t>
            </a:r>
          </a:p>
          <a:p>
            <a:pPr lvl="0"/>
            <a:r>
              <a:rPr lang="en-IN" dirty="0"/>
              <a:t>JavaScript</a:t>
            </a:r>
          </a:p>
          <a:p>
            <a:pPr lvl="0"/>
            <a:r>
              <a:rPr lang="en-IN" dirty="0"/>
              <a:t>React.js </a:t>
            </a:r>
            <a:r>
              <a:rPr lang="en-IN" i="1" dirty="0"/>
              <a:t>(if used in the project)</a:t>
            </a:r>
            <a:endParaRPr lang="en-IN" dirty="0"/>
          </a:p>
          <a:p>
            <a:pPr marL="0" indent="0">
              <a:buNone/>
            </a:pPr>
            <a:r>
              <a:rPr lang="en-IN" b="1" dirty="0"/>
              <a:t>Backend</a:t>
            </a:r>
          </a:p>
          <a:p>
            <a:pPr lvl="0"/>
            <a:r>
              <a:rPr lang="en-IN" dirty="0"/>
              <a:t>Java / Python / Node.js </a:t>
            </a:r>
            <a:r>
              <a:rPr lang="en-IN" i="1" dirty="0"/>
              <a:t>(depending on the selected implementation)</a:t>
            </a:r>
            <a:endParaRPr lang="en-IN" dirty="0"/>
          </a:p>
          <a:p>
            <a:pPr marL="0" indent="0">
              <a:buNone/>
            </a:pPr>
            <a:r>
              <a:rPr lang="en-IN" b="1" dirty="0"/>
              <a:t>Database</a:t>
            </a:r>
          </a:p>
          <a:p>
            <a:pPr lvl="0"/>
            <a:r>
              <a:rPr lang="en-IN" dirty="0"/>
              <a:t>MySQL / MongoDB</a:t>
            </a:r>
          </a:p>
          <a:p>
            <a:pPr marL="0" indent="0">
              <a:buNone/>
            </a:pPr>
            <a:r>
              <a:rPr lang="en-IN" b="1" dirty="0"/>
              <a:t>Development Tools</a:t>
            </a:r>
          </a:p>
          <a:p>
            <a:pPr lvl="0"/>
            <a:r>
              <a:rPr lang="en-IN" dirty="0"/>
              <a:t>Visual Studio Code</a:t>
            </a:r>
          </a:p>
          <a:p>
            <a:pPr lvl="0"/>
            <a:r>
              <a:rPr lang="en-IN" dirty="0"/>
              <a:t>Git and GitHub</a:t>
            </a:r>
          </a:p>
          <a:p>
            <a:pPr lvl="0"/>
            <a:r>
              <a:rPr lang="en-IN" dirty="0"/>
              <a:t>Web Browser such as Google Chrome</a:t>
            </a:r>
          </a:p>
          <a:p>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671936F6-3A39-C4CC-0607-47B9E1158E64}"/>
              </a:ext>
            </a:extLst>
          </p:cNvPr>
          <p:cNvSpPr txBox="1"/>
          <p:nvPr/>
        </p:nvSpPr>
        <p:spPr>
          <a:xfrm>
            <a:off x="1091381" y="1268361"/>
            <a:ext cx="8672051" cy="5170646"/>
          </a:xfrm>
          <a:prstGeom prst="rect">
            <a:avLst/>
          </a:prstGeom>
          <a:noFill/>
        </p:spPr>
        <p:txBody>
          <a:bodyPr wrap="square" rtlCol="0">
            <a:spAutoFit/>
          </a:bodyPr>
          <a:lstStyle/>
          <a:p>
            <a:r>
              <a:rPr lang="en-IN" sz="2400" b="1" dirty="0"/>
              <a:t>Conclusion</a:t>
            </a:r>
          </a:p>
          <a:p>
            <a:pPr marL="285750" lvl="0" indent="-285750">
              <a:buFont typeface="Arial" panose="020B0604020202020204" pitchFamily="34" charset="0"/>
              <a:buChar char="•"/>
            </a:pPr>
            <a:r>
              <a:rPr lang="en-IN" sz="2400" dirty="0"/>
              <a:t>Centralized platform for managing environmental complaints. </a:t>
            </a:r>
          </a:p>
          <a:p>
            <a:pPr marL="285750" lvl="0" indent="-285750">
              <a:buFont typeface="Arial" panose="020B0604020202020204" pitchFamily="34" charset="0"/>
              <a:buChar char="•"/>
            </a:pPr>
            <a:r>
              <a:rPr lang="en-IN" sz="2400" dirty="0"/>
              <a:t>Makes complaint submission and tracking easier. </a:t>
            </a:r>
          </a:p>
          <a:p>
            <a:pPr marL="285750" lvl="0" indent="-285750">
              <a:buFont typeface="Arial" panose="020B0604020202020204" pitchFamily="34" charset="0"/>
              <a:buChar char="•"/>
            </a:pPr>
            <a:r>
              <a:rPr lang="en-IN" sz="2400" dirty="0"/>
              <a:t>Helps authorities manage and resolve complaints efficiently. </a:t>
            </a:r>
          </a:p>
          <a:p>
            <a:pPr marL="285750" lvl="0" indent="-285750">
              <a:buFont typeface="Arial" panose="020B0604020202020204" pitchFamily="34" charset="0"/>
              <a:buChar char="•"/>
            </a:pPr>
            <a:r>
              <a:rPr lang="en-IN" sz="2400" dirty="0"/>
              <a:t>Analytics supports better decision-making. </a:t>
            </a:r>
          </a:p>
          <a:p>
            <a:pPr marL="285750" lvl="0" indent="-285750">
              <a:buFont typeface="Arial" panose="020B0604020202020204" pitchFamily="34" charset="0"/>
              <a:buChar char="•"/>
            </a:pPr>
            <a:r>
              <a:rPr lang="en-IN" sz="2400" dirty="0"/>
              <a:t>Improves transparency and accountability. </a:t>
            </a:r>
          </a:p>
          <a:p>
            <a:pPr lvl="0"/>
            <a:endParaRPr lang="en-IN" sz="2400" dirty="0"/>
          </a:p>
          <a:p>
            <a:r>
              <a:rPr lang="en-IN" sz="2400" b="1" dirty="0"/>
              <a:t>Future Scope</a:t>
            </a:r>
          </a:p>
          <a:p>
            <a:pPr marL="285750" lvl="0" indent="-285750">
              <a:buFont typeface="Arial" panose="020B0604020202020204" pitchFamily="34" charset="0"/>
              <a:buChar char="•"/>
            </a:pPr>
            <a:r>
              <a:rPr lang="en-IN" sz="2400" dirty="0"/>
              <a:t>GPS-based location tracking. </a:t>
            </a:r>
          </a:p>
          <a:p>
            <a:pPr marL="285750" lvl="0" indent="-285750">
              <a:buFont typeface="Arial" panose="020B0604020202020204" pitchFamily="34" charset="0"/>
              <a:buChar char="•"/>
            </a:pPr>
            <a:r>
              <a:rPr lang="en-IN" sz="2400" dirty="0"/>
              <a:t>Mobile application support. </a:t>
            </a:r>
          </a:p>
          <a:p>
            <a:pPr marL="285750" lvl="0" indent="-285750">
              <a:buFont typeface="Arial" panose="020B0604020202020204" pitchFamily="34" charset="0"/>
              <a:buChar char="•"/>
            </a:pPr>
            <a:r>
              <a:rPr lang="en-IN" sz="2400" dirty="0"/>
              <a:t>AI-based complaint classification and priority detection. </a:t>
            </a:r>
          </a:p>
          <a:p>
            <a:pPr marL="285750" lvl="0" indent="-285750">
              <a:buFont typeface="Arial" panose="020B0604020202020204" pitchFamily="34" charset="0"/>
              <a:buChar char="•"/>
            </a:pPr>
            <a:r>
              <a:rPr lang="en-IN" sz="2400" dirty="0"/>
              <a:t>Image/video upload for complaint evidence. </a:t>
            </a:r>
          </a:p>
          <a:p>
            <a:pPr marL="285750" lvl="0" indent="-285750">
              <a:buFont typeface="Arial" panose="020B0604020202020204" pitchFamily="34" charset="0"/>
              <a:buChar char="•"/>
            </a:pPr>
            <a:r>
              <a:rPr lang="en-IN" sz="2400" dirty="0"/>
              <a:t>SMS and email notifications.</a:t>
            </a:r>
          </a:p>
          <a:p>
            <a:endParaRPr lang="en-IN"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8425</TotalTime>
  <Words>793</Words>
  <Application>Microsoft Office PowerPoint</Application>
  <PresentationFormat>Widescreen</PresentationFormat>
  <Paragraphs>137</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1st  REVIEW  </vt:lpstr>
      <vt:lpstr>GROUP NUMBER: 16</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SATHWIKA YEMPARALA</cp:lastModifiedBy>
  <cp:revision>100</cp:revision>
  <dcterms:created xsi:type="dcterms:W3CDTF">2022-05-20T10:20:31Z</dcterms:created>
  <dcterms:modified xsi:type="dcterms:W3CDTF">2026-08-25T04:05:24Z</dcterms:modified>
</cp:coreProperties>
</file>